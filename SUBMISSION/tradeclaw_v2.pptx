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2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6858000" cy="9144000"/>
  <p:defaultTextStyle>
    <a:defPPr>
      <a:defRPr lang="en-GB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940675A-B579-460E-94D1-54222C63F5DA}">
  <a:tblStyle styleId="{5940675A-B579-460E-94D1-54222C63F5DA}" styleName="No Style, Table Grid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dk1"/>
              </a:solidFill>
            </a:ln>
          </a:left>
          <a:right>
            <a:ln w="12700">
              <a:solidFill>
                <a:schemeClr val="dk1"/>
              </a:solidFill>
            </a:ln>
          </a:right>
          <a:top>
            <a:ln w="12700">
              <a:solidFill>
                <a:schemeClr val="dk1"/>
              </a:solidFill>
            </a:ln>
          </a:top>
          <a:bottom>
            <a:ln w="12700">
              <a:solidFill>
                <a:schemeClr val="dk1"/>
              </a:solidFill>
            </a:ln>
          </a:bottom>
          <a:insideH>
            <a:ln w="12700">
              <a:solidFill>
                <a:schemeClr val="dk1"/>
              </a:solidFill>
            </a:ln>
          </a:insideH>
          <a:insideV>
            <a:ln w="12700">
              <a:solidFill>
                <a:schemeClr val="dk1"/>
              </a:solidFill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lt1"/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lt1"/>
          </a:solidFill>
        </a:fill>
      </a:tcStyle>
    </a:band1V>
    <a:band2V>
      <a:tcStyle>
        <a:tcBdr/>
        <a:fill>
          <a:solidFill>
            <a:schemeClr val="lt1"/>
          </a:solidFill>
        </a:fill>
      </a:tcStyle>
    </a:band2V>
    <a:lastCol>
      <a:tcTxStyle b="on">
        <a:fontRef idx="minor">
          <a:prstClr val="black"/>
        </a:fontRef>
        <a:schemeClr val="dk1"/>
      </a:tcTxStyle>
      <a:tcStyle>
        <a:tcBdr/>
        <a:fill>
          <a:solidFill>
            <a:schemeClr val="lt1"/>
          </a:solidFill>
        </a:fill>
      </a:tcStyle>
    </a:lastCol>
    <a:firstCol>
      <a:tcTxStyle b="on">
        <a:fontRef idx="minor">
          <a:prstClr val="black"/>
        </a:fontRef>
        <a:schemeClr val="dk1"/>
      </a:tcTxStyle>
      <a:tcStyle>
        <a:tcBdr/>
        <a:fill>
          <a:solidFill>
            <a:schemeClr val="lt1"/>
          </a:solidFill>
        </a:fill>
      </a:tcStyle>
    </a:firstCol>
    <a:lastRow>
      <a:tcTxStyle b="on">
        <a:fontRef idx="minor">
          <a:prstClr val="black"/>
        </a:fontRef>
        <a:schemeClr val="dk1"/>
      </a:tcTxStyle>
      <a:tcStyle>
        <a:tcBdr>
          <a:top>
            <a:ln w="12700">
              <a:solidFill>
                <a:schemeClr val="lt1"/>
              </a:solidFill>
            </a:ln>
          </a:top>
        </a:tcBdr>
        <a:fill>
          <a:solidFill>
            <a:schemeClr val="l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dk1"/>
      </a:tcTxStyle>
      <a:tcStyle>
        <a:tcBdr>
          <a:bottom>
            <a:ln w="12700">
              <a:solidFill>
                <a:schemeClr val="dk1"/>
              </a:solidFill>
            </a:ln>
          </a:bottom>
        </a:tcBdr>
        <a:fill>
          <a:solidFill>
            <a:schemeClr val="l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 /><Relationship Id="rId14" Type="http://schemas.openxmlformats.org/officeDocument/2006/relationships/tableStyles" Target="tableStyles.xml" /><Relationship Id="rId15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2056534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938293263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GB"/>
              <a:t>10/30/2013</a:t>
            </a:fld>
            <a:endParaRPr lang="en-GB"/>
          </a:p>
        </p:txBody>
      </p:sp>
      <p:sp>
        <p:nvSpPr>
          <p:cNvPr id="1164593964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GB"/>
          </a:p>
        </p:txBody>
      </p:sp>
      <p:sp>
        <p:nvSpPr>
          <p:cNvPr id="1641291950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GB"/>
          </a:p>
        </p:txBody>
      </p:sp>
      <p:sp>
        <p:nvSpPr>
          <p:cNvPr id="834626552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577395766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GB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857471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9217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GB">
              <a:latin typeface="Arial"/>
              <a:cs typeface="Arial"/>
            </a:endParaRPr>
          </a:p>
        </p:txBody>
      </p:sp>
      <p:sp>
        <p:nvSpPr>
          <p:cNvPr id="17584691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GB"/>
              <a:t>1</a:t>
            </a:fld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05547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203648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97103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8415872-8463-7CFE-1042-D13683D65C1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00A95C9-1D01-352F-D5F0-9C01CA31ED8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54167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077485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30348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C5F271E-5D7F-5145-67DD-419DDA31039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32726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011732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61809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B3289C7-18DA-62DA-A1D2-B5B006ACA72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521069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601950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1852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750BE9D-7948-D341-E673-EB83286BEF4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829421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420349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94069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5D871B7-77C3-9620-D72C-5436DD0171A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37105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832034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59155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5FDD3CA-89C7-CF3B-3AAB-51A10DCE7A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4040960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1527957201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GB"/>
              <a:t>Click to edit Master subtitle style</a:t>
            </a:r>
            <a:endParaRPr lang="en-GB"/>
          </a:p>
        </p:txBody>
      </p:sp>
      <p:sp>
        <p:nvSpPr>
          <p:cNvPr id="4171992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GB"/>
              <a:t>30.10.2013</a:t>
            </a:fld>
            <a:endParaRPr lang="en-GB"/>
          </a:p>
        </p:txBody>
      </p:sp>
      <p:sp>
        <p:nvSpPr>
          <p:cNvPr id="108865356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41534483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139696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121034141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GB"/>
          </a:p>
        </p:txBody>
      </p:sp>
      <p:sp>
        <p:nvSpPr>
          <p:cNvPr id="26922512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GB"/>
              <a:t>30.10.2013</a:t>
            </a:fld>
            <a:endParaRPr lang="en-GB"/>
          </a:p>
        </p:txBody>
      </p:sp>
      <p:sp>
        <p:nvSpPr>
          <p:cNvPr id="175748735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1261524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7820872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117527119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</p:txBody>
      </p:sp>
      <p:sp>
        <p:nvSpPr>
          <p:cNvPr id="187589389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GB"/>
              <a:t>30.10.2013</a:t>
            </a:fld>
            <a:endParaRPr lang="en-GB"/>
          </a:p>
        </p:txBody>
      </p:sp>
      <p:sp>
        <p:nvSpPr>
          <p:cNvPr id="133368273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2789483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659007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673631366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GB"/>
          </a:p>
        </p:txBody>
      </p:sp>
      <p:sp>
        <p:nvSpPr>
          <p:cNvPr id="34733955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GB"/>
          </a:p>
        </p:txBody>
      </p:sp>
      <p:sp>
        <p:nvSpPr>
          <p:cNvPr id="5309208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GB"/>
              <a:t>30.10.2013</a:t>
            </a:fld>
            <a:endParaRPr lang="en-GB"/>
          </a:p>
        </p:txBody>
      </p:sp>
      <p:sp>
        <p:nvSpPr>
          <p:cNvPr id="52308727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79125085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529512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189941871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</p:txBody>
      </p:sp>
      <p:sp>
        <p:nvSpPr>
          <p:cNvPr id="12777719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GB"/>
          </a:p>
        </p:txBody>
      </p:sp>
      <p:sp>
        <p:nvSpPr>
          <p:cNvPr id="1881635346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</p:txBody>
      </p:sp>
      <p:sp>
        <p:nvSpPr>
          <p:cNvPr id="1465349289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GB"/>
          </a:p>
        </p:txBody>
      </p:sp>
      <p:sp>
        <p:nvSpPr>
          <p:cNvPr id="1724717685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GB"/>
              <a:t>30.10.2013</a:t>
            </a:fld>
            <a:endParaRPr lang="en-GB"/>
          </a:p>
        </p:txBody>
      </p:sp>
      <p:sp>
        <p:nvSpPr>
          <p:cNvPr id="1120717846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830719503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549962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516387069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GB"/>
              <a:t>30.10.2013</a:t>
            </a:fld>
            <a:endParaRPr lang="en-GB"/>
          </a:p>
        </p:txBody>
      </p:sp>
      <p:sp>
        <p:nvSpPr>
          <p:cNvPr id="271612303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1301526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1682272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GB"/>
              <a:t>30.10.2013</a:t>
            </a:fld>
            <a:endParaRPr lang="en-GB"/>
          </a:p>
        </p:txBody>
      </p:sp>
      <p:sp>
        <p:nvSpPr>
          <p:cNvPr id="1327918491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309236901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2800144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1553863082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GB"/>
          </a:p>
        </p:txBody>
      </p:sp>
      <p:sp>
        <p:nvSpPr>
          <p:cNvPr id="170064137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</p:txBody>
      </p:sp>
      <p:sp>
        <p:nvSpPr>
          <p:cNvPr id="11475453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GB"/>
              <a:t>30.10.2013</a:t>
            </a:fld>
            <a:endParaRPr lang="en-GB"/>
          </a:p>
        </p:txBody>
      </p:sp>
      <p:sp>
        <p:nvSpPr>
          <p:cNvPr id="42405785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205919192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7874427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1292676197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GB"/>
              <a:t>Click icon to add picture</a:t>
            </a:r>
            <a:endParaRPr lang="en-GB"/>
          </a:p>
        </p:txBody>
      </p:sp>
      <p:sp>
        <p:nvSpPr>
          <p:cNvPr id="496067779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</p:txBody>
      </p:sp>
      <p:sp>
        <p:nvSpPr>
          <p:cNvPr id="193137814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GB"/>
              <a:t>30.10.2013</a:t>
            </a:fld>
            <a:endParaRPr lang="en-GB"/>
          </a:p>
        </p:txBody>
      </p:sp>
      <p:sp>
        <p:nvSpPr>
          <p:cNvPr id="99495564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4467775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145040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189480476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GB"/>
          </a:p>
        </p:txBody>
      </p:sp>
      <p:sp>
        <p:nvSpPr>
          <p:cNvPr id="191460492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GB"/>
              <a:t>30.10.2013</a:t>
            </a:fld>
            <a:endParaRPr lang="en-GB"/>
          </a:p>
        </p:txBody>
      </p:sp>
      <p:sp>
        <p:nvSpPr>
          <p:cNvPr id="109231534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93201629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5728164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1248040040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GB"/>
          </a:p>
        </p:txBody>
      </p:sp>
      <p:sp>
        <p:nvSpPr>
          <p:cNvPr id="112910368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GB"/>
              <a:t>30.10.2013</a:t>
            </a:fld>
            <a:endParaRPr lang="en-GB"/>
          </a:p>
        </p:txBody>
      </p:sp>
      <p:sp>
        <p:nvSpPr>
          <p:cNvPr id="32433552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207701525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630428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55596747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GB"/>
          </a:p>
        </p:txBody>
      </p:sp>
      <p:sp>
        <p:nvSpPr>
          <p:cNvPr id="1439397003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GB"/>
              <a:t>30.10.2013</a:t>
            </a:fld>
            <a:endParaRPr lang="en-GB"/>
          </a:p>
        </p:txBody>
      </p:sp>
      <p:sp>
        <p:nvSpPr>
          <p:cNvPr id="342978821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620014361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GB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8240137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6000" b="0" i="0" u="none" strike="noStrike" cap="none" spc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tradeclaw</a:t>
            </a:r>
            <a:endParaRPr sz="6000"/>
          </a:p>
        </p:txBody>
      </p:sp>
      <p:sp>
        <p:nvSpPr>
          <p:cNvPr id="1011777104" name="Subtitle 2"/>
          <p:cNvSpPr>
            <a:spLocks noGrp="1"/>
          </p:cNvSpPr>
          <p:nvPr>
            <p:ph type="subTitle"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en-US" sz="24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EasyA Concensus HK Hackathon 2026</a:t>
            </a:r>
            <a:endParaRPr sz="2400"/>
          </a:p>
          <a:p>
            <a:pPr>
              <a:defRPr/>
            </a:pPr>
            <a:r>
              <a:rPr lang="en-US"/>
              <a:t>Eric Chan</a:t>
            </a:r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2346596" name="Title 1"/>
          <p:cNvSpPr>
            <a:spLocks noGrp="1"/>
          </p:cNvSpPr>
          <p:nvPr>
            <p:ph type="title"/>
          </p:nvPr>
        </p:nvSpPr>
        <p:spPr bwMode="auto">
          <a:xfrm>
            <a:off x="831849" y="1709737"/>
            <a:ext cx="10515600" cy="2852736"/>
          </a:xfrm>
        </p:spPr>
        <p:txBody>
          <a:bodyPr/>
          <a:lstStyle>
            <a:lvl1pPr>
              <a:defRPr sz="6000"/>
            </a:lvl1pPr>
          </a:lstStyle>
          <a:p>
            <a:pPr>
              <a:defRPr/>
            </a:pPr>
            <a:r>
              <a:rPr lang="en-GB" sz="6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OpenClaw </a:t>
            </a:r>
            <a:r>
              <a:rPr lang="en-GB" sz="6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for </a:t>
            </a:r>
            <a:br>
              <a:rPr lang="en-GB" sz="6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</a:br>
            <a:r>
              <a:rPr lang="en-GB" sz="6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Crypto Trading Intellegence </a:t>
            </a:r>
            <a:br>
              <a:rPr lang="en-GB" sz="6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</a:br>
            <a:r>
              <a:rPr lang="en-GB" sz="6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using Coingecko</a:t>
            </a:r>
            <a:endParaRPr/>
          </a:p>
        </p:txBody>
      </p:sp>
      <p:sp>
        <p:nvSpPr>
          <p:cNvPr id="71212230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49" y="4589462"/>
            <a:ext cx="10515600" cy="1500186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34372941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08313" y="0"/>
            <a:ext cx="10975373" cy="68579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8757876" name="Title 1"/>
          <p:cNvSpPr>
            <a:spLocks noGrp="1"/>
          </p:cNvSpPr>
          <p:nvPr>
            <p:ph type="title"/>
          </p:nvPr>
        </p:nvSpPr>
        <p:spPr bwMode="auto">
          <a:xfrm>
            <a:off x="838198" y="2333789"/>
            <a:ext cx="10515600" cy="2852736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 fontScale="90000" lnSpcReduction="2000"/>
          </a:bodyPr>
          <a:lstStyle>
            <a:lvl1pPr>
              <a:defRPr sz="6000"/>
            </a:lvl1pPr>
          </a:lstStyle>
          <a:p>
            <a:pPr>
              <a:defRPr/>
            </a:pPr>
            <a:r>
              <a:rPr lang="en-GB" sz="6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An AI agent which has access to crypto trading datasets</a:t>
            </a:r>
            <a:br>
              <a:rPr lang="en-GB" sz="6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</a:br>
            <a:br>
              <a:rPr lang="en-GB" sz="6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</a:br>
            <a:r>
              <a:rPr lang="en-GB" sz="6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provides alert monitor, trading momentum scanner and answer pricing data</a:t>
            </a:r>
            <a:endParaRPr/>
          </a:p>
        </p:txBody>
      </p:sp>
      <p:sp>
        <p:nvSpPr>
          <p:cNvPr id="201697561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198" y="5213514"/>
            <a:ext cx="10515600" cy="1500186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br>
              <a:rPr/>
            </a:br>
            <a:r>
              <a:rPr lang="en-US"/>
              <a:t>Description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8837698" name="Title 1"/>
          <p:cNvSpPr>
            <a:spLocks noGrp="1"/>
          </p:cNvSpPr>
          <p:nvPr>
            <p:ph type="title"/>
          </p:nvPr>
        </p:nvSpPr>
        <p:spPr bwMode="auto">
          <a:xfrm>
            <a:off x="838198" y="2333789"/>
            <a:ext cx="10515600" cy="2852736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 fontScale="90000" lnSpcReduction="2000"/>
          </a:bodyPr>
          <a:lstStyle>
            <a:lvl1pPr>
              <a:defRPr sz="6000"/>
            </a:lvl1pPr>
          </a:lstStyle>
          <a:p>
            <a:pPr>
              <a:defRPr/>
            </a:pPr>
            <a:r>
              <a:rPr lang="en-GB" sz="5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Dashboard is not feasible to check on phone. </a:t>
            </a:r>
            <a:br>
              <a:rPr/>
            </a:br>
            <a:endParaRPr lang="en-GB" sz="54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GB" sz="5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OpenClaw demostrated general public is happy about interact an AI agent through mobile messenger app.</a:t>
            </a:r>
            <a:endParaRPr/>
          </a:p>
        </p:txBody>
      </p:sp>
      <p:sp>
        <p:nvSpPr>
          <p:cNvPr id="44787334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198" y="5213514"/>
            <a:ext cx="10515600" cy="1500186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br>
              <a:rPr/>
            </a:br>
            <a:r>
              <a:rPr lang="en-US" sz="2400" b="0" i="0" u="none" strike="noStrike" cap="none" spc="0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</a:rPr>
              <a:t>Problem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7225929" name="Title 1"/>
          <p:cNvSpPr>
            <a:spLocks noGrp="1"/>
          </p:cNvSpPr>
          <p:nvPr>
            <p:ph type="title"/>
          </p:nvPr>
        </p:nvSpPr>
        <p:spPr bwMode="auto">
          <a:xfrm>
            <a:off x="838198" y="2333789"/>
            <a:ext cx="10515600" cy="2852736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 fontScale="90000" lnSpcReduction="2000"/>
          </a:bodyPr>
          <a:lstStyle>
            <a:lvl1pPr>
              <a:defRPr sz="6000"/>
            </a:lvl1pPr>
          </a:lstStyle>
          <a:p>
            <a:pPr>
              <a:defRPr/>
            </a:pPr>
            <a:r>
              <a:rPr lang="en-GB" sz="49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Crypto trading data is presented as chats via AI agent, </a:t>
            </a:r>
            <a:br>
              <a:rPr lang="en-GB" sz="49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</a:br>
            <a:br>
              <a:rPr lang="en-GB" sz="49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</a:br>
            <a:r>
              <a:rPr lang="en-GB" sz="49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instead of interacting with dashboard. </a:t>
            </a:r>
            <a:br>
              <a:rPr lang="en-GB" sz="49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</a:br>
            <a:br>
              <a:rPr lang="en-GB" sz="49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</a:br>
            <a:r>
              <a:rPr lang="en-GB" sz="49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(echo with a trend talked by one of the Concensus stage speaker).</a:t>
            </a:r>
            <a:endParaRPr/>
          </a:p>
        </p:txBody>
      </p:sp>
      <p:sp>
        <p:nvSpPr>
          <p:cNvPr id="100782155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198" y="5213514"/>
            <a:ext cx="10515600" cy="1500186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br>
              <a:rPr/>
            </a:br>
            <a:r>
              <a:rPr lang="en-US" sz="2400" b="0" i="0" u="none" strike="noStrike" cap="none" spc="0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</a:rPr>
              <a:t>Solution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8064733" name="Title 1"/>
          <p:cNvSpPr>
            <a:spLocks noGrp="1"/>
          </p:cNvSpPr>
          <p:nvPr>
            <p:ph type="title"/>
          </p:nvPr>
        </p:nvSpPr>
        <p:spPr bwMode="auto">
          <a:xfrm>
            <a:off x="838198" y="2333789"/>
            <a:ext cx="10515600" cy="2852736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 fontScale="90000" lnSpcReduction="2000"/>
          </a:bodyPr>
          <a:lstStyle>
            <a:lvl1pPr>
              <a:defRPr sz="6000"/>
            </a:lvl1pPr>
          </a:lstStyle>
          <a:p>
            <a:pPr>
              <a:defRPr/>
            </a:pPr>
            <a:r>
              <a:rPr lang="en-GB" sz="49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Based on HKUDS/nanobot, which is a lightweight version of OpenClaw / Moltbot. </a:t>
            </a:r>
            <a:br>
              <a:rPr lang="en-GB" sz="49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</a:br>
            <a:endParaRPr lang="en-GB" sz="49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GB" sz="49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Wrap</a:t>
            </a:r>
            <a:r>
              <a:rPr lang="en-US" sz="49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ped</a:t>
            </a:r>
            <a:r>
              <a:rPr lang="en-GB" sz="49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49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functionalities </a:t>
            </a:r>
            <a:r>
              <a:rPr lang="en-GB" sz="49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in subagents</a:t>
            </a:r>
            <a:r>
              <a:rPr lang="en-US" sz="49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, </a:t>
            </a:r>
            <a:r>
              <a:rPr lang="en-US" sz="49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methodologies </a:t>
            </a:r>
            <a:r>
              <a:rPr lang="en-GB" sz="49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in agent skills.</a:t>
            </a:r>
            <a:endParaRPr lang="en-GB" sz="49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61658571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198" y="5213514"/>
            <a:ext cx="10515600" cy="1500186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br>
              <a:rPr/>
            </a:br>
            <a:r>
              <a:rPr lang="en-US" sz="2400" b="0" i="0" u="none" strike="noStrike" cap="none" spc="0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</a:rPr>
              <a:t>Tech descriptions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341865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198" y="5213514"/>
            <a:ext cx="10515600" cy="1500186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br>
              <a:rPr/>
            </a:br>
            <a:r>
              <a:rPr lang="en-US" sz="2400" b="0" i="0" u="none" strike="noStrike" cap="none" spc="0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</a:rPr>
              <a:t>Links </a:t>
            </a:r>
            <a:endParaRPr/>
          </a:p>
        </p:txBody>
      </p:sp>
      <p:graphicFrame>
        <p:nvGraphicFramePr>
          <p:cNvPr id="2101307297" name=""/>
          <p:cNvGraphicFramePr>
            <a:graphicFrameLocks xmlns:a="http://schemas.openxmlformats.org/drawingml/2006/main"/>
          </p:cNvGraphicFramePr>
          <p:nvPr/>
        </p:nvGraphicFramePr>
        <p:xfrm rot="0">
          <a:off x="838198" y="1161311"/>
          <a:ext cx="8127999" cy="1076870"/>
        </p:xfrm>
        <a:graphic>
          <a:graphicData uri="http://schemas.openxmlformats.org/drawingml/2006/table">
            <a:tbl>
              <a:tblPr firstRow="0" firstCol="0" lastRow="0" lastCol="0" bandRow="1" bandCol="0">
                <a:tableStyleId>{5940675A-B579-460E-94D1-54222C63F5DA}</a:tableStyleId>
              </a:tblPr>
              <a:tblGrid>
                <a:gridCol w="2340000"/>
                <a:gridCol w="8162899"/>
              </a:tblGrid>
              <a:tr h="1013050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2600">
                          <a:latin typeface="Adwaita Mono"/>
                          <a:ea typeface="Adwaita Mono"/>
                          <a:cs typeface="Adwaita Mono"/>
                        </a:rPr>
                        <a:t>GitHub</a:t>
                      </a:r>
                      <a:endParaRPr sz="2600">
                        <a:latin typeface="Adwaita Mono"/>
                        <a:cs typeface="Adwaita Mono"/>
                      </a:endParaRPr>
                    </a:p>
                  </a:txBody>
                  <a:tcPr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GB" sz="2600" b="0" i="0" u="none" strike="noStrike" cap="none" spc="0">
                          <a:solidFill>
                            <a:schemeClr val="dk1"/>
                          </a:solidFill>
                          <a:latin typeface="Adwaita Mono"/>
                          <a:ea typeface="Adwaita Mono"/>
                          <a:cs typeface="Adwaita Mono"/>
                        </a:rPr>
                        <a:t>https://github.com/errchh/tradeclaw/</a:t>
                      </a:r>
                      <a:endParaRPr sz="2600">
                        <a:latin typeface="Adwaita Mono"/>
                        <a:cs typeface="Adwaita Mono"/>
                      </a:endParaRPr>
                    </a:p>
                  </a:txBody>
                  <a:tcPr>
                    <a:lnB w="12699" algn="ctr">
                      <a:solidFill>
                        <a:srgbClr val="000000"/>
                      </a:solidFill>
                    </a:lnB>
                  </a:tcPr>
                </a:tc>
              </a:tr>
              <a:tr h="1013050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2600">
                          <a:latin typeface="Adwaita Mono"/>
                          <a:ea typeface="Adwaita Mono"/>
                          <a:cs typeface="Adwaita Mono"/>
                        </a:rPr>
                        <a:t>Linkedin</a:t>
                      </a:r>
                      <a:endParaRPr sz="2600">
                        <a:latin typeface="Adwaita Mono"/>
                        <a:cs typeface="Adwaita Mono"/>
                      </a:endParaRPr>
                    </a:p>
                  </a:txBody>
                  <a:tcP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2600">
                          <a:latin typeface="Adwaita Mono"/>
                          <a:ea typeface="Adwaita Mono"/>
                          <a:cs typeface="Adwaita Mono"/>
                        </a:rPr>
                        <a:t>https://www.linkedin.com/in/ericchanwork</a:t>
                      </a:r>
                      <a:endParaRPr sz="2600">
                        <a:latin typeface="Adwaita Mono"/>
                        <a:cs typeface="Adwaita Mono"/>
                      </a:endParaRPr>
                    </a:p>
                  </a:txBody>
                  <a:tcP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</a:tr>
              <a:tr h="1013050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2600">
                          <a:latin typeface="Adwaita Mono"/>
                          <a:ea typeface="Adwaita Mono"/>
                          <a:cs typeface="Adwaita Mono"/>
                        </a:rPr>
                        <a:t>X</a:t>
                      </a:r>
                      <a:endParaRPr sz="2600">
                        <a:latin typeface="Adwaita Mono"/>
                        <a:cs typeface="Adwaita Mono"/>
                      </a:endParaRPr>
                    </a:p>
                  </a:txBody>
                  <a:tcP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2600">
                          <a:latin typeface="Adwaita Mono"/>
                          <a:ea typeface="Adwaita Mono"/>
                          <a:cs typeface="Adwaita Mono"/>
                        </a:rPr>
                        <a:t>@riceandcha</a:t>
                      </a:r>
                      <a:endParaRPr sz="2600">
                        <a:latin typeface="Adwaita Mono"/>
                        <a:cs typeface="Adwaita Mono"/>
                      </a:endParaRPr>
                    </a:p>
                  </a:txBody>
                  <a:tcP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</a:tr>
              <a:tr h="1013050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2600">
                          <a:latin typeface="Adwaita Mono"/>
                          <a:ea typeface="Adwaita Mono"/>
                          <a:cs typeface="Adwaita Mono"/>
                        </a:rPr>
                        <a:t>Mastodon</a:t>
                      </a:r>
                      <a:endParaRPr sz="2600">
                        <a:latin typeface="Adwaita Mono"/>
                        <a:cs typeface="Adwaita Mono"/>
                      </a:endParaRPr>
                    </a:p>
                  </a:txBody>
                  <a:tcPr>
                    <a:lnT w="12699" algn="ctr">
                      <a:solidFill>
                        <a:srgbClr val="000000"/>
                      </a:solidFill>
                    </a:lnT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2600">
                          <a:latin typeface="Adwaita Mono"/>
                          <a:ea typeface="Adwaita Mono"/>
                          <a:cs typeface="Adwaita Mono"/>
                        </a:rPr>
                        <a:t>@riceandcha@fosstodon.org</a:t>
                      </a:r>
                      <a:endParaRPr sz="2600">
                        <a:latin typeface="Adwaita Mono"/>
                        <a:cs typeface="Adwaita Mono"/>
                      </a:endParaRPr>
                    </a:p>
                  </a:txBody>
                  <a:tcPr>
                    <a:lnT w="12699" algn="ctr">
                      <a:solidFill>
                        <a:srgbClr val="000000"/>
                      </a:solidFill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ONLYOFFICE/9.2.1.43</Application>
  <PresentationFormat>On-screen Show (4:3)</PresentationFormat>
  <Paragraphs>0</Paragraphs>
  <Slides>8</Slides>
  <Notes>8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7</cp:revision>
  <dcterms:modified xsi:type="dcterms:W3CDTF">2026-02-12T04:02:35Z</dcterms:modified>
</cp:coreProperties>
</file>